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9" r:id="rId4"/>
    <p:sldId id="260" r:id="rId5"/>
    <p:sldId id="258"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3" d="100"/>
          <a:sy n="133" d="100"/>
        </p:scale>
        <p:origin x="-1879" y="-6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64F322FE-7B51-4183-AA42-4BA7E609393D}" type="datetimeFigureOut">
              <a:rPr lang="en-GB" smtClean="0"/>
              <a:t>20-Apr-21</a:t>
            </a:fld>
            <a:endParaRPr lang="en-GB"/>
          </a:p>
        </p:txBody>
      </p:sp>
      <p:sp>
        <p:nvSpPr>
          <p:cNvPr id="17" name="Footer Placeholder 16"/>
          <p:cNvSpPr>
            <a:spLocks noGrp="1"/>
          </p:cNvSpPr>
          <p:nvPr>
            <p:ph type="ftr" sz="quarter" idx="11"/>
          </p:nvPr>
        </p:nvSpPr>
        <p:spPr>
          <a:xfrm>
            <a:off x="5410200" y="4205288"/>
            <a:ext cx="1295400" cy="457200"/>
          </a:xfrm>
        </p:spPr>
        <p:txBody>
          <a:bodyPr/>
          <a:lstStyle/>
          <a:p>
            <a:endParaRPr lang="en-GB"/>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162A54DA-C028-4E7E-AB4A-B836C90CE00A}"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4F322FE-7B51-4183-AA42-4BA7E609393D}" type="datetimeFigureOut">
              <a:rPr lang="en-GB" smtClean="0"/>
              <a:t>20-Apr-21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4F322FE-7B51-4183-AA42-4BA7E609393D}" type="datetimeFigureOut">
              <a:rPr lang="en-GB" smtClean="0"/>
              <a:t>20-Apr-21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4F322FE-7B51-4183-AA42-4BA7E609393D}" type="datetimeFigureOut">
              <a:rPr lang="en-GB" smtClean="0"/>
              <a:t>20-Apr-21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64F322FE-7B51-4183-AA42-4BA7E609393D}" type="datetimeFigureOut">
              <a:rPr lang="en-GB" smtClean="0"/>
              <a:t>20-Apr-21</a:t>
            </a:fld>
            <a:endParaRPr lang="en-GB"/>
          </a:p>
        </p:txBody>
      </p:sp>
      <p:sp>
        <p:nvSpPr>
          <p:cNvPr id="27" name="Slide Number Placeholder 26"/>
          <p:cNvSpPr>
            <a:spLocks noGrp="1"/>
          </p:cNvSpPr>
          <p:nvPr>
            <p:ph type="sldNum" sz="quarter" idx="11"/>
          </p:nvPr>
        </p:nvSpPr>
        <p:spPr/>
        <p:txBody>
          <a:bodyPr rtlCol="0"/>
          <a:lstStyle/>
          <a:p>
            <a:fld id="{162A54DA-C028-4E7E-AB4A-B836C90CE00A}" type="slidenum">
              <a:rPr lang="en-GB" smtClean="0"/>
              <a:t>‹#›</a:t>
            </a:fld>
            <a:endParaRPr lang="en-GB"/>
          </a:p>
        </p:txBody>
      </p:sp>
      <p:sp>
        <p:nvSpPr>
          <p:cNvPr id="28" name="Footer Placeholder 27"/>
          <p:cNvSpPr>
            <a:spLocks noGrp="1"/>
          </p:cNvSpPr>
          <p:nvPr>
            <p:ph type="ftr" sz="quarter" idx="12"/>
          </p:nvPr>
        </p:nvSpPr>
        <p:spPr/>
        <p:txBody>
          <a:bodyPr rtlCol="0"/>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64F322FE-7B51-4183-AA42-4BA7E609393D}" type="datetimeFigureOut">
              <a:rPr lang="en-GB" smtClean="0"/>
              <a:t>20-Apr-21</a:t>
            </a:fld>
            <a:endParaRPr lang="en-GB"/>
          </a:p>
        </p:txBody>
      </p:sp>
      <p:sp>
        <p:nvSpPr>
          <p:cNvPr id="4" name="Footer Placeholder 3"/>
          <p:cNvSpPr>
            <a:spLocks noGrp="1"/>
          </p:cNvSpPr>
          <p:nvPr>
            <p:ph type="ftr" sz="quarter" idx="11"/>
          </p:nvPr>
        </p:nvSpPr>
        <p:spPr>
          <a:xfrm>
            <a:off x="5257800" y="612648"/>
            <a:ext cx="1325880" cy="457200"/>
          </a:xfrm>
        </p:spPr>
        <p:txBody>
          <a:bodyPr/>
          <a:lstStyle/>
          <a:p>
            <a:endParaRPr lang="en-GB"/>
          </a:p>
        </p:txBody>
      </p:sp>
      <p:sp>
        <p:nvSpPr>
          <p:cNvPr id="5" name="Slide Number Placeholder 4"/>
          <p:cNvSpPr>
            <a:spLocks noGrp="1"/>
          </p:cNvSpPr>
          <p:nvPr>
            <p:ph type="sldNum" sz="quarter" idx="12"/>
          </p:nvPr>
        </p:nvSpPr>
        <p:spPr>
          <a:xfrm>
            <a:off x="8174736" y="2272"/>
            <a:ext cx="762000" cy="365760"/>
          </a:xfrm>
        </p:spPr>
        <p:txBody>
          <a:bodyPr/>
          <a:lstStyle/>
          <a:p>
            <a:fld id="{162A54DA-C028-4E7E-AB4A-B836C90CE00A}"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322FE-7B51-4183-AA42-4BA7E609393D}" type="datetimeFigureOut">
              <a:rPr lang="en-GB" smtClean="0"/>
              <a:t>20-Apr-21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4F322FE-7B51-4183-AA42-4BA7E609393D}" type="datetimeFigureOut">
              <a:rPr lang="en-GB" smtClean="0"/>
              <a:t>20-Apr-21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4F322FE-7B51-4183-AA42-4BA7E609393D}" type="datetimeFigureOut">
              <a:rPr lang="en-GB" smtClean="0"/>
              <a:t>20-Apr-21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4F322FE-7B51-4183-AA42-4BA7E609393D}" type="datetimeFigureOut">
              <a:rPr lang="en-GB" smtClean="0"/>
              <a:t>20-Apr-21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4F322FE-7B51-4183-AA42-4BA7E609393D}" type="datetimeFigureOut">
              <a:rPr lang="en-GB" smtClean="0"/>
              <a:t>20-Apr-21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2A54DA-C028-4E7E-AB4A-B836C90CE00A}"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64F322FE-7B51-4183-AA42-4BA7E609393D}" type="datetimeFigureOut">
              <a:rPr lang="en-GB" smtClean="0"/>
              <a:t>20-Apr-21</a:t>
            </a:fld>
            <a:endParaRPr lang="en-GB"/>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GB"/>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162A54DA-C028-4E7E-AB4A-B836C90CE00A}"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nature.com/articles/s41467-018-07090-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1556792"/>
            <a:ext cx="8458200" cy="1470025"/>
          </a:xfrm>
        </p:spPr>
        <p:txBody>
          <a:bodyPr>
            <a:normAutofit/>
          </a:bodyPr>
          <a:lstStyle/>
          <a:p>
            <a:pPr algn="ctr"/>
            <a:r>
              <a:rPr lang="en-GB" sz="3200" b="1" dirty="0" smtClean="0">
                <a:solidFill>
                  <a:schemeClr val="accent2">
                    <a:lumMod val="40000"/>
                    <a:lumOff val="60000"/>
                  </a:schemeClr>
                </a:solidFill>
              </a:rPr>
              <a:t>Barren Plateaus </a:t>
            </a:r>
            <a:r>
              <a:rPr lang="en-GB" sz="3200" b="1" dirty="0">
                <a:solidFill>
                  <a:schemeClr val="accent2">
                    <a:lumMod val="40000"/>
                    <a:lumOff val="60000"/>
                  </a:schemeClr>
                </a:solidFill>
              </a:rPr>
              <a:t>in </a:t>
            </a:r>
            <a:r>
              <a:rPr lang="en-GB" sz="3200" b="1" dirty="0" smtClean="0">
                <a:solidFill>
                  <a:schemeClr val="accent2">
                    <a:lumMod val="40000"/>
                    <a:lumOff val="60000"/>
                  </a:schemeClr>
                </a:solidFill>
              </a:rPr>
              <a:t>Quantum Neural Network Training Landscapes</a:t>
            </a:r>
            <a:endParaRPr lang="en-GB" sz="3200" b="1" dirty="0">
              <a:solidFill>
                <a:schemeClr val="accent2">
                  <a:lumMod val="40000"/>
                  <a:lumOff val="60000"/>
                </a:schemeClr>
              </a:solidFill>
            </a:endParaRPr>
          </a:p>
        </p:txBody>
      </p:sp>
      <p:sp>
        <p:nvSpPr>
          <p:cNvPr id="3" name="Subtitle 2"/>
          <p:cNvSpPr>
            <a:spLocks noGrp="1"/>
          </p:cNvSpPr>
          <p:nvPr>
            <p:ph type="subTitle" idx="1"/>
          </p:nvPr>
        </p:nvSpPr>
        <p:spPr>
          <a:xfrm>
            <a:off x="467544" y="3789040"/>
            <a:ext cx="4953000" cy="1752600"/>
          </a:xfrm>
        </p:spPr>
        <p:txBody>
          <a:bodyPr>
            <a:normAutofit/>
          </a:bodyPr>
          <a:lstStyle/>
          <a:p>
            <a:pPr algn="ctr"/>
            <a:endParaRPr lang="en-GB" sz="1050" dirty="0" smtClean="0"/>
          </a:p>
          <a:p>
            <a:pPr algn="ctr"/>
            <a:r>
              <a:rPr lang="en-GB" sz="1050" b="1" dirty="0"/>
              <a:t>Jarrod R. McClean, </a:t>
            </a:r>
            <a:r>
              <a:rPr lang="en-GB" sz="1050" b="1" dirty="0" smtClean="0"/>
              <a:t> Sergio </a:t>
            </a:r>
            <a:r>
              <a:rPr lang="en-GB" sz="1050" b="1" dirty="0" err="1"/>
              <a:t>Boixo</a:t>
            </a:r>
            <a:r>
              <a:rPr lang="en-GB" sz="1050" b="1" dirty="0"/>
              <a:t>, </a:t>
            </a:r>
            <a:r>
              <a:rPr lang="en-GB" sz="1050" b="1" dirty="0" smtClean="0"/>
              <a:t> Vadim </a:t>
            </a:r>
            <a:r>
              <a:rPr lang="en-GB" sz="1050" b="1" dirty="0"/>
              <a:t>N. </a:t>
            </a:r>
            <a:r>
              <a:rPr lang="en-GB" sz="1050" b="1" dirty="0" err="1"/>
              <a:t>Smelyanskiy</a:t>
            </a:r>
            <a:r>
              <a:rPr lang="en-GB" sz="1050" b="1" dirty="0"/>
              <a:t>, </a:t>
            </a:r>
            <a:r>
              <a:rPr lang="en-GB" sz="1050" b="1" dirty="0" smtClean="0"/>
              <a:t> Ryan </a:t>
            </a:r>
            <a:r>
              <a:rPr lang="en-GB" sz="1050" b="1" dirty="0" err="1"/>
              <a:t>Babbush</a:t>
            </a:r>
            <a:r>
              <a:rPr lang="en-GB" sz="1050" b="1" dirty="0"/>
              <a:t> &amp; </a:t>
            </a:r>
            <a:r>
              <a:rPr lang="en-GB" sz="1050" b="1" dirty="0" err="1"/>
              <a:t>Hartmut</a:t>
            </a:r>
            <a:r>
              <a:rPr lang="en-GB" sz="1050" b="1" dirty="0"/>
              <a:t> Neven </a:t>
            </a:r>
            <a:endParaRPr lang="en-GB" sz="1050" b="1" dirty="0" smtClean="0"/>
          </a:p>
          <a:p>
            <a:pPr algn="ctr"/>
            <a:r>
              <a:rPr lang="en-GB" sz="1400" dirty="0">
                <a:hlinkClick r:id="rId2"/>
              </a:rPr>
              <a:t>https://</a:t>
            </a:r>
            <a:r>
              <a:rPr lang="en-GB" sz="1400" dirty="0" smtClean="0">
                <a:hlinkClick r:id="rId2"/>
              </a:rPr>
              <a:t>www.nature.com/articles/s41467-018-07090-4</a:t>
            </a:r>
            <a:endParaRPr lang="en-GB" sz="1400" dirty="0" smtClean="0"/>
          </a:p>
          <a:p>
            <a:pPr algn="ctr"/>
            <a:endParaRPr lang="en-GB" sz="1200" b="1" dirty="0"/>
          </a:p>
          <a:p>
            <a:pPr algn="ctr"/>
            <a:r>
              <a:rPr lang="en-GB" sz="1200" b="1" dirty="0" smtClean="0"/>
              <a:t>Presentation by Thomas Peachey</a:t>
            </a:r>
            <a:endParaRPr lang="en-GB" sz="1200" b="1" dirty="0"/>
          </a:p>
        </p:txBody>
      </p:sp>
    </p:spTree>
    <p:extLst>
      <p:ext uri="{BB962C8B-B14F-4D97-AF65-F5344CB8AC3E}">
        <p14:creationId xmlns:p14="http://schemas.microsoft.com/office/powerpoint/2010/main" val="31904043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548680"/>
            <a:ext cx="4536504" cy="1008112"/>
          </a:xfrm>
        </p:spPr>
        <p:txBody>
          <a:bodyPr>
            <a:normAutofit/>
          </a:bodyPr>
          <a:lstStyle/>
          <a:p>
            <a:r>
              <a:rPr lang="en-GB" sz="2000" b="1" dirty="0" smtClean="0"/>
              <a:t>Current quantum computer theory</a:t>
            </a:r>
            <a:endParaRPr lang="en-GB" sz="2000" b="1" dirty="0"/>
          </a:p>
        </p:txBody>
      </p:sp>
      <p:sp>
        <p:nvSpPr>
          <p:cNvPr id="4" name="Content Placeholder 3"/>
          <p:cNvSpPr>
            <a:spLocks noGrp="1"/>
          </p:cNvSpPr>
          <p:nvPr>
            <p:ph idx="1"/>
          </p:nvPr>
        </p:nvSpPr>
        <p:spPr>
          <a:xfrm>
            <a:off x="4427984" y="1772816"/>
            <a:ext cx="4402832" cy="4176464"/>
          </a:xfrm>
        </p:spPr>
        <p:txBody>
          <a:bodyPr>
            <a:normAutofit fontScale="92500"/>
          </a:bodyPr>
          <a:lstStyle/>
          <a:p>
            <a:r>
              <a:rPr lang="en-US" sz="1800" dirty="0"/>
              <a:t>Many </a:t>
            </a:r>
            <a:r>
              <a:rPr lang="en-US" sz="1800" dirty="0" smtClean="0"/>
              <a:t>proposals </a:t>
            </a:r>
            <a:r>
              <a:rPr lang="en-US" sz="1800" dirty="0"/>
              <a:t>for </a:t>
            </a:r>
            <a:r>
              <a:rPr lang="en-US" sz="1800" dirty="0" smtClean="0"/>
              <a:t>intermediate </a:t>
            </a:r>
            <a:r>
              <a:rPr lang="en-US" sz="1800" dirty="0"/>
              <a:t>scale quantum devices involve training a parameterized quantum circuit with a classical optimization loop. </a:t>
            </a:r>
            <a:endParaRPr lang="en-US" sz="1800" dirty="0" smtClean="0"/>
          </a:p>
          <a:p>
            <a:endParaRPr lang="en-US" sz="1800" dirty="0"/>
          </a:p>
          <a:p>
            <a:r>
              <a:rPr lang="en-US" sz="1800" dirty="0" smtClean="0"/>
              <a:t>Such </a:t>
            </a:r>
            <a:r>
              <a:rPr lang="en-US" sz="1800" dirty="0"/>
              <a:t>hybrid quantum-classical algorithms are popular for applications in quantum simulation, optimization, and machine </a:t>
            </a:r>
            <a:r>
              <a:rPr lang="en-US" sz="1800" dirty="0" smtClean="0"/>
              <a:t>learning.</a:t>
            </a:r>
          </a:p>
          <a:p>
            <a:endParaRPr lang="en-US" sz="1800" dirty="0"/>
          </a:p>
          <a:p>
            <a:r>
              <a:rPr lang="en-US" sz="1800" dirty="0" smtClean="0"/>
              <a:t>Due to simplicity </a:t>
            </a:r>
            <a:r>
              <a:rPr lang="en-US" sz="1800" dirty="0"/>
              <a:t>and hardware efficiency, random circuits are often proposed as initial guesses for exploring the space of quantum states</a:t>
            </a:r>
            <a:r>
              <a:rPr lang="en-US" sz="1800" dirty="0" smtClean="0"/>
              <a:t>.</a:t>
            </a:r>
          </a:p>
          <a:p>
            <a:endParaRPr lang="en-US" sz="1800" dirty="0"/>
          </a:p>
          <a:p>
            <a:endParaRPr lang="en-US" sz="1800" dirty="0"/>
          </a:p>
          <a:p>
            <a:endParaRPr lang="en-US" sz="1800" dirty="0"/>
          </a:p>
          <a:p>
            <a:pPr marL="109728" indent="0">
              <a:buNone/>
            </a:pPr>
            <a:endParaRPr lang="en-US" dirty="0" smtClean="0"/>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2492896"/>
            <a:ext cx="3397560" cy="2265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899592" y="4864094"/>
            <a:ext cx="3024336" cy="230832"/>
          </a:xfrm>
          <a:prstGeom prst="rect">
            <a:avLst/>
          </a:prstGeom>
        </p:spPr>
        <p:txBody>
          <a:bodyPr wrap="square">
            <a:spAutoFit/>
          </a:bodyPr>
          <a:lstStyle/>
          <a:p>
            <a:r>
              <a:rPr lang="en-GB" sz="900" b="1" dirty="0" smtClean="0"/>
              <a:t>fig 1 - </a:t>
            </a:r>
            <a:r>
              <a:rPr lang="en-US" sz="900" b="1" dirty="0" smtClean="0"/>
              <a:t>IBM Research </a:t>
            </a:r>
            <a:r>
              <a:rPr lang="en-US" sz="900" dirty="0" smtClean="0"/>
              <a:t>- Inside a quantum computer </a:t>
            </a:r>
          </a:p>
        </p:txBody>
      </p:sp>
    </p:spTree>
    <p:extLst>
      <p:ext uri="{BB962C8B-B14F-4D97-AF65-F5344CB8AC3E}">
        <p14:creationId xmlns:p14="http://schemas.microsoft.com/office/powerpoint/2010/main" val="15890245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476672"/>
            <a:ext cx="4607416" cy="936104"/>
          </a:xfrm>
        </p:spPr>
        <p:txBody>
          <a:bodyPr>
            <a:normAutofit/>
          </a:bodyPr>
          <a:lstStyle/>
          <a:p>
            <a:pPr algn="ctr"/>
            <a:r>
              <a:rPr lang="en-GB" sz="2000" dirty="0" smtClean="0"/>
              <a:t>How are these circuits optimised</a:t>
            </a:r>
            <a:r>
              <a:rPr lang="en-GB" dirty="0" smtClean="0"/>
              <a:t>? - </a:t>
            </a:r>
            <a:r>
              <a:rPr lang="en-GB" sz="2000" dirty="0" smtClean="0"/>
              <a:t>Gradient Descent</a:t>
            </a:r>
            <a:endParaRPr lang="en-GB" sz="2000" dirty="0"/>
          </a:p>
        </p:txBody>
      </p:sp>
      <p:sp>
        <p:nvSpPr>
          <p:cNvPr id="3" name="Text Placeholder 2"/>
          <p:cNvSpPr>
            <a:spLocks noGrp="1"/>
          </p:cNvSpPr>
          <p:nvPr>
            <p:ph type="body" idx="2"/>
          </p:nvPr>
        </p:nvSpPr>
        <p:spPr>
          <a:xfrm>
            <a:off x="539552" y="4365104"/>
            <a:ext cx="7416824" cy="1944216"/>
          </a:xfrm>
        </p:spPr>
        <p:txBody>
          <a:bodyPr>
            <a:noAutofit/>
          </a:bodyPr>
          <a:lstStyle/>
          <a:p>
            <a:pPr marL="180594" indent="-171450">
              <a:buFont typeface="Arial" panose="020B0604020202020204" pitchFamily="34" charset="0"/>
              <a:buChar char="•"/>
            </a:pPr>
            <a:r>
              <a:rPr lang="en-GB" dirty="0" smtClean="0"/>
              <a:t>The basic method for optimising these circuits is gradient descent. This is where an n-dimensional landscape is navigated algorithmically to find the global maxima or minima. </a:t>
            </a:r>
          </a:p>
          <a:p>
            <a:pPr marL="180594" indent="-171450">
              <a:buFont typeface="Arial" panose="020B0604020202020204" pitchFamily="34" charset="0"/>
              <a:buChar char="•"/>
            </a:pPr>
            <a:endParaRPr lang="en-GB" dirty="0" smtClean="0"/>
          </a:p>
          <a:p>
            <a:pPr marL="180594" indent="-171450">
              <a:buFont typeface="Arial" panose="020B0604020202020204" pitchFamily="34" charset="0"/>
              <a:buChar char="•"/>
            </a:pPr>
            <a:r>
              <a:rPr lang="en-GB" dirty="0" smtClean="0"/>
              <a:t>In complex landscapes there may be many local maxima and minima which the algorithm may get stuck in (such as point </a:t>
            </a:r>
            <a:r>
              <a:rPr lang="en-GB" b="1" dirty="0" smtClean="0"/>
              <a:t>A </a:t>
            </a:r>
            <a:r>
              <a:rPr lang="en-GB" dirty="0" smtClean="0"/>
              <a:t>on </a:t>
            </a:r>
            <a:r>
              <a:rPr lang="en-GB" b="1" dirty="0" smtClean="0"/>
              <a:t>fig 1</a:t>
            </a:r>
            <a:r>
              <a:rPr lang="en-GB" dirty="0" smtClean="0"/>
              <a:t>). </a:t>
            </a:r>
          </a:p>
          <a:p>
            <a:pPr marL="180594" indent="-171450">
              <a:buFont typeface="Arial" panose="020B0604020202020204" pitchFamily="34" charset="0"/>
              <a:buChar char="•"/>
            </a:pPr>
            <a:endParaRPr lang="en-GB" dirty="0" smtClean="0"/>
          </a:p>
          <a:p>
            <a:pPr marL="180594" indent="-171450">
              <a:buFont typeface="Arial" panose="020B0604020202020204" pitchFamily="34" charset="0"/>
              <a:buChar char="•"/>
            </a:pPr>
            <a:r>
              <a:rPr lang="en-GB" dirty="0" smtClean="0"/>
              <a:t>Additional techniques are used to circumvent this (such as taking random walks to find lower/higher points) however getting stuck is always an issue.</a:t>
            </a:r>
            <a:endParaRPr lang="en-GB" dirty="0"/>
          </a:p>
        </p:txBody>
      </p:sp>
      <p:pic>
        <p:nvPicPr>
          <p:cNvPr id="5" name="Picture 2"/>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632853" y="1412776"/>
            <a:ext cx="5102225" cy="298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843808" y="3068960"/>
            <a:ext cx="340158" cy="369332"/>
          </a:xfrm>
          <a:prstGeom prst="rect">
            <a:avLst/>
          </a:prstGeom>
          <a:noFill/>
        </p:spPr>
        <p:txBody>
          <a:bodyPr wrap="none" rtlCol="0">
            <a:spAutoFit/>
          </a:bodyPr>
          <a:lstStyle/>
          <a:p>
            <a:r>
              <a:rPr lang="en-GB" dirty="0" smtClean="0"/>
              <a:t>A</a:t>
            </a:r>
            <a:endParaRPr lang="en-GB" dirty="0"/>
          </a:p>
        </p:txBody>
      </p:sp>
      <p:sp>
        <p:nvSpPr>
          <p:cNvPr id="7" name="Rectangle 6"/>
          <p:cNvSpPr/>
          <p:nvPr/>
        </p:nvSpPr>
        <p:spPr>
          <a:xfrm>
            <a:off x="5364088" y="2348880"/>
            <a:ext cx="1944216" cy="784830"/>
          </a:xfrm>
          <a:prstGeom prst="rect">
            <a:avLst/>
          </a:prstGeom>
        </p:spPr>
        <p:txBody>
          <a:bodyPr wrap="square">
            <a:spAutoFit/>
          </a:bodyPr>
          <a:lstStyle/>
          <a:p>
            <a:r>
              <a:rPr lang="en-GB" sz="900" b="1" dirty="0" smtClean="0"/>
              <a:t>fig 2 - </a:t>
            </a:r>
            <a:r>
              <a:rPr lang="en-GB" sz="900" dirty="0" smtClean="0"/>
              <a:t>Celine </a:t>
            </a:r>
            <a:r>
              <a:rPr lang="en-GB" sz="900" dirty="0" err="1" smtClean="0"/>
              <a:t>Surai</a:t>
            </a:r>
            <a:r>
              <a:rPr lang="en-GB" sz="900" dirty="0" smtClean="0"/>
              <a:t> - https://medium.com/swlh/machine-learning-fundamentals-2-gradient-descent-algorithm-6c8f5204bd9b</a:t>
            </a:r>
            <a:endParaRPr lang="en-GB" sz="900" dirty="0"/>
          </a:p>
        </p:txBody>
      </p:sp>
    </p:spTree>
    <p:extLst>
      <p:ext uri="{BB962C8B-B14F-4D97-AF65-F5344CB8AC3E}">
        <p14:creationId xmlns:p14="http://schemas.microsoft.com/office/powerpoint/2010/main" val="22276740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4978896" cy="1066800"/>
          </a:xfrm>
        </p:spPr>
        <p:txBody>
          <a:bodyPr>
            <a:normAutofit/>
          </a:bodyPr>
          <a:lstStyle/>
          <a:p>
            <a:pPr algn="ctr"/>
            <a:r>
              <a:rPr lang="en-GB" sz="2000" dirty="0" smtClean="0"/>
              <a:t>Quantum devices are noisy - so are the optimisation landscapes</a:t>
            </a:r>
            <a:endParaRPr lang="en-GB" sz="2000" dirty="0"/>
          </a:p>
        </p:txBody>
      </p:sp>
      <p:pic>
        <p:nvPicPr>
          <p:cNvPr id="3074" name="Picture 2" descr="Solving 'barren plateaus' is the key to quantum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276871"/>
            <a:ext cx="4612974" cy="30972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7200" y="2249424"/>
            <a:ext cx="4402832" cy="4325112"/>
          </a:xfrm>
        </p:spPr>
        <p:txBody>
          <a:bodyPr>
            <a:normAutofit/>
          </a:bodyPr>
          <a:lstStyle/>
          <a:p>
            <a:r>
              <a:rPr lang="en-US" sz="1400" dirty="0" smtClean="0"/>
              <a:t>However the researchers in this paper found that although at small scales there is a lot of noise, at a more macroscopic scale an extremely small number of quantum states lead to optimization terrain that deviates significantly from a gradient of zero.</a:t>
            </a:r>
          </a:p>
          <a:p>
            <a:endParaRPr lang="en-US" sz="1400" dirty="0"/>
          </a:p>
          <a:p>
            <a:endParaRPr lang="en-US" sz="1400" dirty="0" smtClean="0"/>
          </a:p>
          <a:p>
            <a:r>
              <a:rPr lang="en-US" sz="1400" dirty="0" smtClean="0"/>
              <a:t>The </a:t>
            </a:r>
            <a:r>
              <a:rPr lang="en-US" sz="1400" dirty="0"/>
              <a:t>fact that only an exponentially small fraction of states fall outside of this band means that searches resembling random walks will have an exponentially small probability of exiting this “barren plateau”</a:t>
            </a:r>
            <a:endParaRPr lang="en-GB" sz="1400" dirty="0"/>
          </a:p>
        </p:txBody>
      </p:sp>
      <p:sp>
        <p:nvSpPr>
          <p:cNvPr id="5" name="Rectangle 4"/>
          <p:cNvSpPr/>
          <p:nvPr/>
        </p:nvSpPr>
        <p:spPr>
          <a:xfrm>
            <a:off x="5148064" y="5503251"/>
            <a:ext cx="3384376" cy="369332"/>
          </a:xfrm>
          <a:prstGeom prst="rect">
            <a:avLst/>
          </a:prstGeom>
        </p:spPr>
        <p:txBody>
          <a:bodyPr wrap="square">
            <a:spAutoFit/>
          </a:bodyPr>
          <a:lstStyle/>
          <a:p>
            <a:pPr algn="ctr"/>
            <a:r>
              <a:rPr lang="en-GB" sz="900" b="1" dirty="0" smtClean="0"/>
              <a:t>fig 3 - </a:t>
            </a:r>
            <a:r>
              <a:rPr lang="en-US" sz="900" b="1" dirty="0" smtClean="0"/>
              <a:t>Los Alamos National Laboratory </a:t>
            </a:r>
            <a:r>
              <a:rPr lang="en-US" sz="900" dirty="0" smtClean="0"/>
              <a:t>– A cartoon representation of the problem</a:t>
            </a:r>
          </a:p>
        </p:txBody>
      </p:sp>
    </p:spTree>
    <p:extLst>
      <p:ext uri="{BB962C8B-B14F-4D97-AF65-F5344CB8AC3E}">
        <p14:creationId xmlns:p14="http://schemas.microsoft.com/office/powerpoint/2010/main" val="360481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5724128" y="1340768"/>
            <a:ext cx="2590800" cy="2516489"/>
          </a:xfrm>
        </p:spPr>
        <p:txBody>
          <a:bodyPr>
            <a:normAutofit/>
          </a:bodyPr>
          <a:lstStyle/>
          <a:p>
            <a:r>
              <a:rPr lang="en-US" dirty="0" smtClean="0"/>
              <a:t>both </a:t>
            </a:r>
            <a:r>
              <a:rPr lang="en-US" dirty="0"/>
              <a:t>the expected value of the gradient and its spread decay exponentially as a function of the number of qubits even when the number of layers is a modest linear function</a:t>
            </a:r>
            <a:r>
              <a:rPr lang="en-US" dirty="0" smtClean="0"/>
              <a:t>.</a:t>
            </a:r>
          </a:p>
          <a:p>
            <a:endParaRPr lang="en-US" dirty="0"/>
          </a:p>
          <a:p>
            <a:r>
              <a:rPr lang="en-US" dirty="0" smtClean="0"/>
              <a:t>“These </a:t>
            </a:r>
            <a:r>
              <a:rPr lang="en-US" dirty="0"/>
              <a:t>results substantiate our conclusion that gradients in modest-sized random circuits tend to vanish without additional mitigating steps</a:t>
            </a:r>
            <a:r>
              <a:rPr lang="en-US" dirty="0" smtClean="0"/>
              <a:t>.”</a:t>
            </a:r>
            <a:endParaRPr lang="en-GB" dirty="0"/>
          </a:p>
        </p:txBody>
      </p:sp>
      <p:pic>
        <p:nvPicPr>
          <p:cNvPr id="1027" name="Picture 3"/>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304" b="304"/>
          <a:stretch>
            <a:fillRect/>
          </a:stretch>
        </p:blipFill>
        <p:spPr bwMode="auto">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a:xfrm>
            <a:off x="1619672" y="5877272"/>
            <a:ext cx="1944216" cy="507831"/>
          </a:xfrm>
          <a:prstGeom prst="rect">
            <a:avLst/>
          </a:prstGeom>
        </p:spPr>
        <p:txBody>
          <a:bodyPr wrap="square">
            <a:spAutoFit/>
          </a:bodyPr>
          <a:lstStyle/>
          <a:p>
            <a:r>
              <a:rPr lang="en-GB" sz="900" b="1" dirty="0" smtClean="0"/>
              <a:t>fig 4 - </a:t>
            </a:r>
            <a:r>
              <a:rPr lang="en-GB" sz="900" dirty="0" smtClean="0"/>
              <a:t>Semi log plot of gradient variance vs number of q-bits (taken from the article)</a:t>
            </a:r>
            <a:endParaRPr lang="en-GB" sz="900" dirty="0"/>
          </a:p>
        </p:txBody>
      </p:sp>
    </p:spTree>
    <p:extLst>
      <p:ext uri="{BB962C8B-B14F-4D97-AF65-F5344CB8AC3E}">
        <p14:creationId xmlns:p14="http://schemas.microsoft.com/office/powerpoint/2010/main" val="12213750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471</TotalTime>
  <Words>380</Words>
  <Application>Microsoft Office PowerPoint</Application>
  <PresentationFormat>On-screen Show (4:3)</PresentationFormat>
  <Paragraphs>33</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Urban</vt:lpstr>
      <vt:lpstr>Barren Plateaus in Quantum Neural Network Training Landscapes</vt:lpstr>
      <vt:lpstr>Current quantum computer theory</vt:lpstr>
      <vt:lpstr>How are these circuits optimised? - Gradient Descent</vt:lpstr>
      <vt:lpstr>Quantum devices are noisy - so are the optimisation landscapes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Barren plateaus in quantum neural network training landscapes</dc:title>
  <dc:creator>Tom</dc:creator>
  <cp:lastModifiedBy>Tom</cp:lastModifiedBy>
  <cp:revision>9</cp:revision>
  <dcterms:created xsi:type="dcterms:W3CDTF">2021-04-20T08:09:56Z</dcterms:created>
  <dcterms:modified xsi:type="dcterms:W3CDTF">2021-04-20T16:01:15Z</dcterms:modified>
</cp:coreProperties>
</file>